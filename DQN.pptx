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22" r:id="rId3"/>
    <p:sldId id="290" r:id="rId4"/>
    <p:sldId id="293" r:id="rId5"/>
    <p:sldId id="323" r:id="rId6"/>
    <p:sldId id="324" r:id="rId7"/>
    <p:sldId id="318" r:id="rId8"/>
    <p:sldId id="288" r:id="rId9"/>
    <p:sldId id="317" r:id="rId10"/>
    <p:sldId id="316" r:id="rId11"/>
    <p:sldId id="320" r:id="rId12"/>
    <p:sldId id="31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頁" id="{ABDD2225-0BC4-4711-A8ED-E264AC75802E}">
          <p14:sldIdLst>
            <p14:sldId id="256"/>
          </p14:sldIdLst>
        </p14:section>
        <p14:section name="系統分析" id="{75E7B61E-6F28-4E5D-B907-04C2046FEFB2}">
          <p14:sldIdLst>
            <p14:sldId id="322"/>
            <p14:sldId id="290"/>
            <p14:sldId id="293"/>
            <p14:sldId id="323"/>
            <p14:sldId id="324"/>
          </p14:sldIdLst>
        </p14:section>
        <p14:section name="DQN" id="{51167E25-41F1-42F7-B242-4EB1F9DFD588}">
          <p14:sldIdLst>
            <p14:sldId id="318"/>
            <p14:sldId id="288"/>
            <p14:sldId id="317"/>
            <p14:sldId id="316"/>
            <p14:sldId id="320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89318" autoAdjust="0"/>
  </p:normalViewPr>
  <p:slideViewPr>
    <p:cSldViewPr snapToGrid="0">
      <p:cViewPr varScale="1">
        <p:scale>
          <a:sx n="99" d="100"/>
          <a:sy n="99" d="100"/>
        </p:scale>
        <p:origin x="10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905C5-9D54-40E2-B40C-7996280CAB02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6B0B-A5FB-4629-B823-69B1A9EB3A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發現只對左側進行有效擊球 </a:t>
            </a:r>
            <a:r>
              <a:rPr lang="en-US" altLang="zh-TW" dirty="0"/>
              <a:t>=&gt;</a:t>
            </a:r>
            <a:r>
              <a:rPr lang="zh-TW" altLang="en-US" dirty="0"/>
              <a:t> 使用左右映射法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7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Distribution:</a:t>
            </a:r>
            <a:r>
              <a:rPr lang="zh-TW" altLang="en-US" dirty="0"/>
              <a:t> 分配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031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傳統的</a:t>
            </a:r>
            <a:r>
              <a:rPr lang="en-US" altLang="zh-TW" dirty="0"/>
              <a:t>Q learning</a:t>
            </a:r>
            <a:r>
              <a:rPr lang="zh-TW" altLang="en-US" dirty="0"/>
              <a:t>中，</a:t>
            </a:r>
            <a:r>
              <a:rPr lang="en-US" altLang="zh-TW" dirty="0"/>
              <a:t>Q</a:t>
            </a:r>
            <a:r>
              <a:rPr lang="zh-TW" altLang="en-US" dirty="0"/>
              <a:t>值是從一個狀態和一個行動計算出來的，並且通常是通過查表或者簡單的函數來實現的。</a:t>
            </a:r>
            <a:endParaRPr lang="en-US" altLang="zh-TW" dirty="0"/>
          </a:p>
          <a:p>
            <a:r>
              <a:rPr lang="en-US" altLang="zh-TW" dirty="0"/>
              <a:t>\gamma:</a:t>
            </a:r>
            <a:r>
              <a:rPr lang="zh-TW" altLang="en-US" dirty="0"/>
              <a:t> </a:t>
            </a:r>
            <a:r>
              <a:rPr lang="en-US" altLang="zh-TW" dirty="0"/>
              <a:t>0.99</a:t>
            </a:r>
            <a:r>
              <a:rPr lang="zh-TW" altLang="en-US" dirty="0"/>
              <a:t>，代表對未來很重視；</a:t>
            </a:r>
            <a:r>
              <a:rPr lang="en-US" altLang="zh-TW" dirty="0"/>
              <a:t>0.9</a:t>
            </a:r>
            <a:r>
              <a:rPr lang="zh-TW" altLang="en-US" dirty="0"/>
              <a:t>，代表對未來不太重視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68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TW" dirty="0"/>
              <a:t>(</a:t>
            </a:r>
            <a:r>
              <a:rPr lang="zh-TW" altLang="en-US" dirty="0"/>
              <a:t>老師的分數</a:t>
            </a:r>
            <a:r>
              <a:rPr lang="en-US" altLang="zh-TW" dirty="0"/>
              <a:t>-</a:t>
            </a:r>
            <a:r>
              <a:rPr lang="zh-TW" altLang="en-US" dirty="0"/>
              <a:t>學生預測的分數</a:t>
            </a:r>
            <a:r>
              <a:rPr lang="en-US" altLang="zh-TW" dirty="0"/>
              <a:t>)^2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/>
              <a:t>平方的目的</a:t>
            </a:r>
            <a:r>
              <a:rPr lang="en-US" altLang="zh-TW" dirty="0"/>
              <a:t>:</a:t>
            </a:r>
            <a:r>
              <a:rPr lang="zh-TW" altLang="en-US" dirty="0"/>
              <a:t> 取</a:t>
            </a:r>
            <a:r>
              <a:rPr lang="en-US" altLang="zh-TW" dirty="0"/>
              <a:t>MSE</a:t>
            </a:r>
            <a:r>
              <a:rPr lang="zh-TW" altLang="en-US" dirty="0"/>
              <a:t>，使預測值接近目標值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en-US" altLang="zh-TW" dirty="0"/>
              <a:t>policy_net </a:t>
            </a:r>
            <a:r>
              <a:rPr lang="zh-TW" altLang="en-US" dirty="0"/>
              <a:t>先學習，直到某個程度再修改 </a:t>
            </a:r>
            <a:r>
              <a:rPr lang="en-US" altLang="zh-TW" dirty="0"/>
              <a:t>target_net</a:t>
            </a:r>
            <a:r>
              <a:rPr lang="zh-TW" altLang="en-US" dirty="0"/>
              <a:t>，因此 </a:t>
            </a:r>
            <a:r>
              <a:rPr lang="en-US" altLang="zh-TW" dirty="0"/>
              <a:t>target_net </a:t>
            </a:r>
            <a:r>
              <a:rPr lang="zh-TW" altLang="en-US" dirty="0"/>
              <a:t>是穩定的</a:t>
            </a:r>
            <a:endParaRPr lang="en-US" altLang="zh-TW" dirty="0"/>
          </a:p>
          <a:p>
            <a:pPr marL="228600" indent="-228600">
              <a:buAutoNum type="arabicPeriod"/>
            </a:pPr>
            <a:r>
              <a:rPr lang="en-US" altLang="zh-TW" dirty="0"/>
              <a:t>DQN</a:t>
            </a:r>
            <a:r>
              <a:rPr lang="zh-TW" altLang="en-US" dirty="0"/>
              <a:t>的</a:t>
            </a:r>
            <a:r>
              <a:rPr lang="en-US" altLang="zh-TW" dirty="0"/>
              <a:t>Q</a:t>
            </a:r>
            <a:r>
              <a:rPr lang="zh-TW" altLang="en-US" dirty="0"/>
              <a:t>是 </a:t>
            </a:r>
            <a:r>
              <a:rPr lang="en-US" altLang="zh-TW" dirty="0"/>
              <a:t>loss</a:t>
            </a:r>
            <a:r>
              <a:rPr lang="zh-TW" altLang="en-US" dirty="0"/>
              <a:t> </a:t>
            </a:r>
            <a:r>
              <a:rPr lang="en-US" altLang="zh-TW" dirty="0"/>
              <a:t>function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gradient descent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梯度下降法</a:t>
            </a:r>
            <a:r>
              <a:rPr lang="en-US" altLang="zh-TW" dirty="0"/>
              <a:t>)</a:t>
            </a:r>
            <a:r>
              <a:rPr lang="zh-TW" altLang="en-US" dirty="0"/>
              <a:t>，逐漸趨近一個</a:t>
            </a:r>
            <a:r>
              <a:rPr lang="en-US" altLang="zh-TW" dirty="0"/>
              <a:t>Q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467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supervised learning:</a:t>
            </a:r>
            <a:r>
              <a:rPr lang="zh-TW" altLang="en-US" dirty="0"/>
              <a:t> 監督式學習</a:t>
            </a:r>
            <a:endParaRPr lang="en-US" altLang="zh-TW" dirty="0"/>
          </a:p>
          <a:p>
            <a:r>
              <a:rPr lang="en-US" altLang="zh-TW" dirty="0"/>
              <a:t>IID(independent and identically</a:t>
            </a:r>
            <a:r>
              <a:rPr lang="zh-TW" altLang="en-US" dirty="0"/>
              <a:t> </a:t>
            </a:r>
            <a:r>
              <a:rPr lang="en-US" altLang="zh-TW" dirty="0"/>
              <a:t>distribution)</a:t>
            </a:r>
            <a:r>
              <a:rPr lang="zh-TW" altLang="en-US" dirty="0"/>
              <a:t> </a:t>
            </a:r>
            <a:r>
              <a:rPr lang="en-US" altLang="zh-TW" dirty="0"/>
              <a:t>: </a:t>
            </a:r>
            <a:r>
              <a:rPr lang="zh-TW" altLang="en-US" dirty="0"/>
              <a:t>獨立同分佈，因為機器學習大部分演算法，都假設每筆訓練資料都彼此獨立且來自同一分佈</a:t>
            </a:r>
            <a:endParaRPr lang="en-US" altLang="zh-TW" dirty="0"/>
          </a:p>
          <a:p>
            <a:r>
              <a:rPr lang="zh-TW" altLang="en-US" b="1" dirty="0"/>
              <a:t>為什麼需要</a:t>
            </a:r>
            <a:r>
              <a:rPr lang="en-US" altLang="zh-TW" b="1" dirty="0"/>
              <a:t>epsilon-greedy</a:t>
            </a:r>
            <a:r>
              <a:rPr lang="zh-TW" altLang="en-US" b="1" dirty="0"/>
              <a:t>？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避免卡在次佳策略（局部最佳）</a:t>
            </a:r>
            <a:endParaRPr lang="zh-TW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/>
              <a:t>若 </a:t>
            </a:r>
            <a:r>
              <a:rPr lang="en-US" altLang="zh-TW" dirty="0"/>
              <a:t>AI </a:t>
            </a:r>
            <a:r>
              <a:rPr lang="zh-TW" altLang="en-US" dirty="0"/>
              <a:t>一開始只用 </a:t>
            </a:r>
            <a:r>
              <a:rPr lang="en-US" altLang="zh-TW" dirty="0"/>
              <a:t>greedy → </a:t>
            </a:r>
            <a:r>
              <a:rPr lang="zh-TW" altLang="en-US" dirty="0"/>
              <a:t>容易從亂猜中學到錯誤偏好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確保所有動作都至少偶爾被試驗</a:t>
            </a:r>
            <a:endParaRPr lang="zh-TW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/>
              <a:t>讓經驗涵蓋整個狀態空間</a:t>
            </a:r>
          </a:p>
          <a:p>
            <a:pPr>
              <a:buFont typeface="+mj-lt"/>
              <a:buAutoNum type="arabicPeriod"/>
            </a:pPr>
            <a:r>
              <a:rPr lang="zh-TW" altLang="en-US" b="1" dirty="0"/>
              <a:t>輔助 </a:t>
            </a:r>
            <a:r>
              <a:rPr lang="en-US" altLang="zh-TW" b="1" dirty="0"/>
              <a:t>Replay Buffer </a:t>
            </a:r>
            <a:r>
              <a:rPr lang="zh-TW" altLang="en-US" b="1" dirty="0"/>
              <a:t>取得多樣化資料</a:t>
            </a:r>
            <a:endParaRPr lang="zh-TW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zh-TW" altLang="en-US" dirty="0"/>
              <a:t>更容易讓 </a:t>
            </a:r>
            <a:r>
              <a:rPr lang="en-US" altLang="zh-TW" dirty="0"/>
              <a:t>Q-function </a:t>
            </a:r>
            <a:r>
              <a:rPr lang="zh-TW" altLang="en-US" dirty="0"/>
              <a:t>收斂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430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466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99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887523"/>
          </a:xfrm>
        </p:spPr>
        <p:txBody>
          <a:bodyPr anchor="b"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4074"/>
            <a:ext cx="10515600" cy="4434726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838200" y="5638800"/>
            <a:ext cx="10515600" cy="600825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spcBef>
                <a:spcPts val="0"/>
              </a:spcBef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200" y="6274588"/>
            <a:ext cx="10515600" cy="5715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8200" y="1119519"/>
            <a:ext cx="10515600" cy="57150"/>
          </a:xfrm>
          <a:prstGeom prst="rect">
            <a:avLst/>
          </a:prstGeom>
        </p:spPr>
      </p:pic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2025/11/19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407ADF-C590-55F6-B1E9-77358FA091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zh-TW" altLang="en-US" sz="4400" dirty="0">
                <a:cs typeface="Times New Roman" panose="02020603050405020304" pitchFamily="18" charset="0"/>
              </a:rPr>
              <a:t>基於</a:t>
            </a:r>
            <a:r>
              <a:rPr lang="en-US" altLang="zh-TW" sz="4400" dirty="0">
                <a:cs typeface="Times New Roman" panose="02020603050405020304" pitchFamily="18" charset="0"/>
              </a:rPr>
              <a:t>DQN</a:t>
            </a:r>
            <a:r>
              <a:rPr lang="zh-TW" altLang="en-US" sz="4400" dirty="0">
                <a:cs typeface="Times New Roman" panose="02020603050405020304" pitchFamily="18" charset="0"/>
              </a:rPr>
              <a:t>訓練遊玩</a:t>
            </a:r>
            <a:r>
              <a:rPr lang="en-US" altLang="zh-TW" sz="4400" dirty="0">
                <a:cs typeface="Times New Roman" panose="02020603050405020304" pitchFamily="18" charset="0"/>
              </a:rPr>
              <a:t>Pac-man</a:t>
            </a:r>
            <a:r>
              <a:rPr lang="zh-TW" altLang="en-US" sz="4400" dirty="0">
                <a:cs typeface="Times New Roman" panose="02020603050405020304" pitchFamily="18" charset="0"/>
              </a:rPr>
              <a:t>以及乒乓球之模型說明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6E8476-59A0-D95E-8ADB-322FEECB28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組員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F114112140</a:t>
            </a:r>
            <a:r>
              <a:rPr lang="zh-TW" altLang="en-US" dirty="0">
                <a:cs typeface="Times New Roman" panose="02020603050405020304" pitchFamily="18" charset="0"/>
              </a:rPr>
              <a:t> 王柏諺</a:t>
            </a:r>
            <a:r>
              <a:rPr lang="en-US" altLang="zh-TW" dirty="0">
                <a:cs typeface="Times New Roman" panose="02020603050405020304" pitchFamily="18" charset="0"/>
              </a:rPr>
              <a:t>(</a:t>
            </a:r>
            <a:r>
              <a:rPr lang="zh-TW" altLang="en-US" dirty="0">
                <a:cs typeface="Times New Roman" panose="02020603050405020304" pitchFamily="18" charset="0"/>
              </a:rPr>
              <a:t>組長</a:t>
            </a:r>
            <a:r>
              <a:rPr lang="en-US" altLang="zh-TW" dirty="0"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F114111115</a:t>
            </a:r>
            <a:r>
              <a:rPr lang="zh-TW" altLang="en-US" dirty="0">
                <a:cs typeface="Times New Roman" panose="02020603050405020304" pitchFamily="18" charset="0"/>
              </a:rPr>
              <a:t> 余宇承</a:t>
            </a:r>
            <a:endParaRPr lang="en-US" altLang="zh-TW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39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FA81F3-C1AC-3B73-05BB-B9B4CDF74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i="0" dirty="0">
                <a:effectLst/>
              </a:rPr>
              <a:t>功能：</a:t>
            </a:r>
            <a:endParaRPr lang="en-US" altLang="zh-TW" b="0" i="0" dirty="0">
              <a:effectLst/>
            </a:endParaRPr>
          </a:p>
          <a:p>
            <a:pPr lvl="1"/>
            <a:r>
              <a:rPr lang="zh-TW" altLang="en-US" b="0" i="0" dirty="0">
                <a:effectLst/>
              </a:rPr>
              <a:t>使用</a:t>
            </a:r>
            <a:r>
              <a:rPr lang="en-US" altLang="zh-TW" b="0" i="0" dirty="0" err="1">
                <a:effectLst/>
              </a:rPr>
              <a:t>pygame</a:t>
            </a:r>
            <a:r>
              <a:rPr lang="zh-TW" altLang="en-US" b="0" i="0" dirty="0">
                <a:effectLst/>
              </a:rPr>
              <a:t>建立 </a:t>
            </a:r>
            <a:r>
              <a:rPr lang="en-US" altLang="zh-TW" b="0" i="0" dirty="0" err="1">
                <a:effectLst/>
              </a:rPr>
              <a:t>pacman</a:t>
            </a:r>
            <a:r>
              <a:rPr lang="en-US" altLang="zh-TW" b="0" i="0" dirty="0">
                <a:effectLst/>
              </a:rPr>
              <a:t>/</a:t>
            </a:r>
            <a:r>
              <a:rPr lang="zh-TW" altLang="en-US" b="0" i="0" dirty="0">
                <a:effectLst/>
              </a:rPr>
              <a:t>乒乓球 遊戲，包含</a:t>
            </a:r>
            <a:r>
              <a:rPr lang="zh-TW" altLang="en-US" dirty="0"/>
              <a:t> </a:t>
            </a:r>
            <a:r>
              <a:rPr lang="en-US" altLang="zh-TW" b="0" i="0" dirty="0" err="1">
                <a:effectLst/>
              </a:rPr>
              <a:t>pacman</a:t>
            </a:r>
            <a:r>
              <a:rPr lang="zh-TW" altLang="en-US" b="0" i="0" dirty="0">
                <a:effectLst/>
              </a:rPr>
              <a:t>移動、鬼、牆壁地圖、點數、遊戲結束</a:t>
            </a:r>
            <a:endParaRPr lang="en-US" altLang="zh-TW" b="0" i="0" dirty="0">
              <a:effectLst/>
            </a:endParaRPr>
          </a:p>
          <a:p>
            <a:pPr lvl="1"/>
            <a:r>
              <a:rPr lang="en-US" altLang="zh-TW" dirty="0"/>
              <a:t>DQN</a:t>
            </a:r>
            <a:r>
              <a:rPr lang="zh-TW" altLang="en-US" dirty="0"/>
              <a:t>深度強化學習</a:t>
            </a:r>
            <a:r>
              <a:rPr lang="en-US" altLang="zh-TW" dirty="0"/>
              <a:t>Agent</a:t>
            </a:r>
            <a:endParaRPr lang="en-US" altLang="zh-TW" b="0" i="0" dirty="0">
              <a:effectLst/>
            </a:endParaRPr>
          </a:p>
          <a:p>
            <a:r>
              <a:rPr lang="zh-TW" altLang="en-US" b="0" i="0" dirty="0">
                <a:effectLst/>
              </a:rPr>
              <a:t>效能：</a:t>
            </a:r>
            <a:endParaRPr lang="en-US" altLang="zh-TW" b="0" i="0" dirty="0">
              <a:effectLst/>
            </a:endParaRPr>
          </a:p>
          <a:p>
            <a:pPr lvl="1"/>
            <a:r>
              <a:rPr lang="zh-TW" altLang="en-US" dirty="0"/>
              <a:t>模型效能</a:t>
            </a:r>
            <a:r>
              <a:rPr lang="en-US" altLang="zh-TW" dirty="0"/>
              <a:t>(DQN)</a:t>
            </a:r>
            <a:r>
              <a:rPr lang="zh-TW" altLang="en-US" dirty="0"/>
              <a:t>，</a:t>
            </a:r>
            <a:r>
              <a:rPr lang="en-US" altLang="zh-TW" dirty="0"/>
              <a:t>DQN</a:t>
            </a:r>
            <a:r>
              <a:rPr lang="zh-TW" altLang="en-US" dirty="0"/>
              <a:t>做強化學習決策</a:t>
            </a:r>
            <a:endParaRPr lang="en-US" altLang="zh-TW" dirty="0"/>
          </a:p>
          <a:p>
            <a:pPr lvl="1"/>
            <a:r>
              <a:rPr lang="zh-TW" altLang="en-US" dirty="0"/>
              <a:t>遊戲環境效能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b="0" i="0" dirty="0">
                <a:effectLst/>
              </a:rPr>
              <a:t>訓練效率</a:t>
            </a:r>
            <a:r>
              <a:rPr lang="en-US" altLang="zh-TW" b="0" i="0" dirty="0">
                <a:effectLst/>
              </a:rPr>
              <a:t>:</a:t>
            </a:r>
            <a:r>
              <a:rPr kumimoji="0" lang="zh-TW" altLang="zh-TW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1000 episodes</a:t>
            </a:r>
            <a:r>
              <a:rPr kumimoji="0" lang="en-US" altLang="zh-TW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kumimoji="0" lang="zh-TW" altLang="en-US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局數</a:t>
            </a:r>
            <a:r>
              <a:rPr kumimoji="0" lang="en-US" altLang="zh-TW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cs typeface="Times New Roman" panose="02020603050405020304" pitchFamily="18" charset="0"/>
              </a:rPr>
              <a:t>，約</a:t>
            </a:r>
            <a:r>
              <a:rPr lang="en-US" altLang="zh-TW" dirty="0">
                <a:cs typeface="Times New Roman" panose="02020603050405020304" pitchFamily="18" charset="0"/>
              </a:rPr>
              <a:t>22</a:t>
            </a:r>
            <a:r>
              <a:rPr kumimoji="0" lang="en-US" altLang="zh-TW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0k</a:t>
            </a:r>
            <a:r>
              <a:rPr kumimoji="0" lang="zh-TW" altLang="en-US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zh-TW" altLang="zh-TW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steps</a:t>
            </a:r>
            <a:r>
              <a:rPr kumimoji="0" lang="en-US" altLang="zh-TW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cs typeface="Times New Roman" panose="02020603050405020304" pitchFamily="18" charset="0"/>
              </a:rPr>
              <a:t>步數</a:t>
            </a:r>
            <a:r>
              <a:rPr kumimoji="0" lang="en-US" altLang="zh-TW" sz="16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</a:t>
            </a:r>
            <a:endParaRPr lang="en-US" altLang="zh-TW" i="0" dirty="0">
              <a:effectLst/>
              <a:cs typeface="Times New Roman" panose="02020603050405020304" pitchFamily="18" charset="0"/>
            </a:endParaRPr>
          </a:p>
          <a:p>
            <a:r>
              <a:rPr lang="zh-TW" altLang="en-US" b="0" i="0" dirty="0">
                <a:effectLst/>
              </a:rPr>
              <a:t>介面：</a:t>
            </a:r>
            <a:endParaRPr lang="en-US" altLang="zh-TW" dirty="0"/>
          </a:p>
          <a:p>
            <a:r>
              <a:rPr lang="zh-TW" altLang="en-US" b="0" i="0" dirty="0">
                <a:effectLst/>
              </a:rPr>
              <a:t>限制： </a:t>
            </a:r>
            <a:endParaRPr lang="en-US" altLang="zh-TW" b="0" i="0" dirty="0">
              <a:effectLst/>
            </a:endParaRPr>
          </a:p>
          <a:p>
            <a:pPr marL="457200" lvl="1" indent="0">
              <a:buNone/>
            </a:pPr>
            <a:endParaRPr lang="en-US" altLang="zh-TW" b="0" i="0" dirty="0">
              <a:effectLst/>
            </a:endParaRPr>
          </a:p>
          <a:p>
            <a:r>
              <a:rPr lang="zh-TW" altLang="en-US" b="0" i="0" dirty="0">
                <a:effectLst/>
              </a:rPr>
              <a:t>驗收： </a:t>
            </a:r>
            <a:endParaRPr lang="en-US" altLang="zh-TW" b="0" i="0" dirty="0">
              <a:effectLst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041A32C-A22D-4451-CDC3-F7B5805A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專案管理</a:t>
            </a:r>
          </a:p>
        </p:txBody>
      </p:sp>
    </p:spTree>
    <p:extLst>
      <p:ext uri="{BB962C8B-B14F-4D97-AF65-F5344CB8AC3E}">
        <p14:creationId xmlns:p14="http://schemas.microsoft.com/office/powerpoint/2010/main" val="356533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70BA-22B2-EB74-81E1-B327C0FB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C8CF2EF3-1963-8DF1-38AC-A6FC9F8C563F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1DC99-760D-9445-9A7C-CDF5FAC5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系統分析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053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BC42-F441-AC6A-2793-A58BD362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0DBF4A77-BC42-5158-8770-7EB98807FC67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ABDC90E-7D3D-5350-0B7B-E05B710A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cs typeface="Times New Roman" panose="02020603050405020304" pitchFamily="18" charset="0"/>
              </a:rPr>
              <a:t>環境及設定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134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BC42-F441-AC6A-2793-A58BD362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0DBF4A77-BC42-5158-8770-7EB98807FC67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ABDC90E-7D3D-5350-0B7B-E05B710A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測試清單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04F8B9E-38C4-D739-A222-555B3D970E94}"/>
                  </a:ext>
                </a:extLst>
              </p:cNvPr>
              <p:cNvSpPr txBox="1"/>
              <p:nvPr/>
            </p:nvSpPr>
            <p:spPr>
              <a:xfrm>
                <a:off x="838200" y="1181184"/>
                <a:ext cx="105156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單元測試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環境測試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Test_reset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：確保環境初始化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Test_update_ball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：人工指定球的位置與速度，測試球的碰撞、邊界、出局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Test_update_player1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：測試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player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的發球與動作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Test_update_player2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：確認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2P AI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速度變化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Test_state_feature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：確保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state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維度與數值範圍正確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Test_obstacle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hard 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模式下，障礙物的位置、移動、碰撞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DQN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模型測試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Test_dqn_forward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：測試丟入隨機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state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，輸出的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shape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是否正確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Test_replay_buffer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</a:t>
                </a: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push+sample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，檢查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shape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是否正確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Test_loss_target_calc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：手動產生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batch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，檢查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TD target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是否正確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Test_epsilon_schedule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：測試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epsilon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是否從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1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=&gt;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0.05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線性下降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Test_parameter_update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：測試單步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backward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，確認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6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θ</m:t>
                    </m:r>
                  </m:oMath>
                </a14:m>
                <a:r>
                  <a:rPr lang="en-US" altLang="zh-TW" sz="1600" b="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-norm</a:t>
                </a:r>
                <a:r>
                  <a:rPr lang="zh-TW" altLang="en-US" sz="1600" b="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變化</a:t>
                </a:r>
                <a:endParaRPr lang="en-US" altLang="zh-TW" sz="1600" b="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2P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對手測試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Test_opponent_update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：呼叫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update(env)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，觀察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P2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是否向球靠近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Test_opponent_speed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：在 </a:t>
                </a:r>
                <a:r>
                  <a:rPr lang="en-US" altLang="zh-TW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easy/normal/hard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要有三種速度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Test_predictive_ai</a:t>
                </a:r>
                <a:r>
                  <a:rPr lang="zh-TW" altLang="en-US" sz="16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：測試預測球落點是否正確</a:t>
                </a:r>
                <a:endParaRPr lang="en-US" altLang="zh-TW" sz="16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marL="1257300" lvl="2" indent="-342900">
                  <a:buFont typeface="+mj-lt"/>
                  <a:buAutoNum type="arabicPeriod"/>
                </a:pPr>
                <a:endParaRPr lang="en-US" altLang="zh-TW" sz="20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04F8B9E-38C4-D739-A222-555B3D97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81184"/>
                <a:ext cx="10515600" cy="5016758"/>
              </a:xfrm>
              <a:prstGeom prst="rect">
                <a:avLst/>
              </a:prstGeom>
              <a:blipFill>
                <a:blip r:embed="rId2"/>
                <a:stretch>
                  <a:fillRect l="-232" t="-3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97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BC42-F441-AC6A-2793-A58BD362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0DBF4A77-BC42-5158-8770-7EB98807FC67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ABDC90E-7D3D-5350-0B7B-E05B710A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>
                <a:cs typeface="Times New Roman" panose="02020603050405020304" pitchFamily="18" charset="0"/>
              </a:rPr>
              <a:t>測試清單</a:t>
            </a:r>
            <a:endParaRPr lang="zh-TW" altLang="en-US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9E031E7-CEF3-2465-E8BC-D1F0ED39E4B7}"/>
                  </a:ext>
                </a:extLst>
              </p:cNvPr>
              <p:cNvSpPr txBox="1"/>
              <p:nvPr/>
            </p:nvSpPr>
            <p:spPr>
              <a:xfrm>
                <a:off x="838200" y="1389529"/>
                <a:ext cx="10515600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整合測試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Test_episode_run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：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env.reset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sz="1600" b="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500steps 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sz="1600" b="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zh-TW" altLang="en-US" sz="1600" b="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確保不會</a:t>
                </a:r>
                <a:r>
                  <a:rPr lang="en-US" altLang="zh-TW" sz="1600" b="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crash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Test_train_100_steps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：執行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100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steps DQN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TW" altLang="en-US" sz="1600" b="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會更新</a:t>
                </a:r>
                <a:endParaRPr lang="en-US" altLang="zh-TW" sz="1600" b="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Test_play_agent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：使用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play_paia_agent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實際跑一分鐘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zh-TW" sz="1600" b="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Test_hard_mode_with_obstacle</a:t>
                </a:r>
                <a:r>
                  <a:rPr lang="zh-TW" altLang="en-US" sz="1600" b="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：</a:t>
                </a:r>
                <a:r>
                  <a:rPr lang="en-US" altLang="zh-TW" sz="1600" b="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hard</a:t>
                </a:r>
                <a:r>
                  <a:rPr lang="zh-TW" altLang="en-US" sz="1600" b="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模式下，障礙物存在且會阻擋球</a:t>
                </a:r>
                <a:endParaRPr lang="en-US" altLang="zh-TW" sz="1600" b="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Test_loss_position_analysis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：測試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analyze_miss_position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能夠蒐集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lose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資料</a:t>
                </a:r>
                <a:endParaRPr lang="en-US" altLang="zh-TW" sz="1600" b="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9E031E7-CEF3-2465-E8BC-D1F0ED39E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9529"/>
                <a:ext cx="10515600" cy="1846659"/>
              </a:xfrm>
              <a:prstGeom prst="rect">
                <a:avLst/>
              </a:prstGeom>
              <a:blipFill>
                <a:blip r:embed="rId2"/>
                <a:stretch>
                  <a:fillRect l="-232" t="-9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151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21A97-5A3F-931B-420D-49F0897A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8069C3B3-0DFE-DEEB-87C2-7B89CDA4439C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7431FD-3B46-A1C6-AE12-55419B94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DQN</a:t>
            </a:r>
            <a:r>
              <a:rPr lang="zh-TW" altLang="en-US" dirty="0">
                <a:latin typeface="標楷體" panose="03000509000000000000" pitchFamily="65" charset="-120"/>
              </a:rPr>
              <a:t>模型說明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E6A8049F-C84B-1FB4-8D41-8F5794B67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084" y="1822039"/>
            <a:ext cx="4919831" cy="321392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65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8DFA-8384-EDC8-EA52-78788B1D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A51EDF0B-D9DB-D49A-D35D-2A59C0A66F95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6E0E24-F152-1C96-0B09-1D86A908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DQN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模型說明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D46E0E43-B194-8F24-1BDD-4A7A137495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4074"/>
                <a:ext cx="10515600" cy="4434726"/>
              </a:xfrm>
            </p:spPr>
            <p:txBody>
              <a:bodyPr/>
              <a:lstStyle/>
              <a:p>
                <a:r>
                  <a:rPr lang="zh-TW" altLang="en-US" dirty="0"/>
                  <a:t>強化學習</a:t>
                </a:r>
                <a:r>
                  <a:rPr lang="en-US" altLang="zh-TW" dirty="0"/>
                  <a:t>(RL)</a:t>
                </a:r>
              </a:p>
              <a:p>
                <a:pPr lvl="1"/>
                <a:r>
                  <a:rPr lang="en-US" altLang="zh-TW" dirty="0"/>
                  <a:t>Agent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=&gt;</a:t>
                </a:r>
                <a:r>
                  <a:rPr lang="zh-TW" altLang="en-US" dirty="0"/>
                  <a:t> 選擇一個動作 </a:t>
                </a:r>
                <a:r>
                  <a:rPr lang="en-US" altLang="zh-TW" dirty="0"/>
                  <a:t>=&gt;</a:t>
                </a:r>
                <a:r>
                  <a:rPr lang="zh-TW" altLang="en-US" dirty="0"/>
                  <a:t> 得到對應的</a:t>
                </a:r>
                <a:r>
                  <a:rPr lang="en-US" altLang="zh-TW" dirty="0"/>
                  <a:t>reward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=&gt;</a:t>
                </a:r>
                <a:r>
                  <a:rPr lang="zh-TW" altLang="en-US" dirty="0"/>
                  <a:t> 遊戲推進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Q Learning</a:t>
                </a:r>
              </a:p>
              <a:p>
                <a:pPr lvl="1"/>
                <a:r>
                  <a:rPr lang="zh-TW" altLang="en-US" dirty="0"/>
                  <a:t>是一種基於「價值」的強化學習方法，核心是學習一個價值函數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，代表在狀態</a:t>
                </a:r>
                <a:r>
                  <a:rPr lang="en-US" altLang="zh-TW" dirty="0"/>
                  <a:t>s</a:t>
                </a:r>
                <a:r>
                  <a:rPr lang="zh-TW" altLang="en-US" dirty="0"/>
                  <a:t>下，執行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動作所期望的未來獎勵。</a:t>
                </a:r>
                <a:br>
                  <a:rPr lang="en-US" altLang="zh-TW" dirty="0"/>
                </a:br>
                <a:endParaRPr lang="en-US" altLang="zh-TW" dirty="0"/>
              </a:p>
              <a:p>
                <a:pPr lvl="1"/>
                <a:r>
                  <a:rPr lang="zh-TW" altLang="en-US" dirty="0"/>
                  <a:t>公式解釋</a:t>
                </a:r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 當前狀態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TW" altLang="en-US" dirty="0"/>
                  <a:t>下執行行動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dirty="0"/>
                  <a:t>的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TW" altLang="en-US" dirty="0"/>
                  <a:t>值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α:</a:t>
                </a:r>
                <a:r>
                  <a:rPr lang="zh-TW" altLang="en-US" dirty="0"/>
                  <a:t> 學習率，決定新得到的資訊對現有的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TW" altLang="en-US" dirty="0"/>
                  <a:t>值影響程度</a:t>
                </a:r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:</a:t>
                </a:r>
                <a:r>
                  <a:rPr lang="zh-TW" altLang="en-US" dirty="0"/>
                  <a:t> 執行行動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dirty="0"/>
                  <a:t>後，獲得的即時獎勵</a:t>
                </a:r>
                <a:r>
                  <a:rPr lang="en-US" altLang="zh-TW" dirty="0"/>
                  <a:t>(reward)</a:t>
                </a:r>
              </a:p>
              <a:p>
                <a:pPr lvl="2"/>
                <a:r>
                  <a:rPr lang="zh-TW" altLang="zh-TW" dirty="0"/>
                  <a:t>γ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折扣因子，用於平衡即時獎勵與未來獎勵的重要性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通常設定成</a:t>
                </a:r>
                <a:r>
                  <a:rPr lang="en-US" altLang="zh-TW" dirty="0"/>
                  <a:t>0.9</a:t>
                </a:r>
                <a:r>
                  <a:rPr lang="zh-TW" altLang="en-US" dirty="0"/>
                  <a:t>或是</a:t>
                </a:r>
                <a:r>
                  <a:rPr lang="en-US" altLang="zh-TW" dirty="0"/>
                  <a:t>0.99)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執行行動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TW" altLang="en-US" dirty="0"/>
                  <a:t>的新狀態</a:t>
                </a:r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altLang="zh-TW" dirty="0"/>
                  <a:t>: </a:t>
                </a:r>
                <a:r>
                  <a:rPr lang="zh-TW" altLang="en-US" dirty="0"/>
                  <a:t>新狀態下的最大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TW" altLang="en-US" dirty="0"/>
                  <a:t>值</a:t>
                </a:r>
                <a:endParaRPr lang="en-US" altLang="zh-TW" b="0" dirty="0"/>
              </a:p>
              <a:p>
                <a:pPr lvl="2"/>
                <a:endParaRPr lang="en-US" altLang="zh-TW" b="0" dirty="0"/>
              </a:p>
              <a:p>
                <a:pPr lvl="2"/>
                <a:endParaRPr lang="en-US" altLang="zh-TW" dirty="0"/>
              </a:p>
            </p:txBody>
          </p:sp>
        </mc:Choice>
        <mc:Fallback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D46E0E43-B194-8F24-1BDD-4A7A13749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4074"/>
                <a:ext cx="10515600" cy="4434726"/>
              </a:xfrm>
              <a:blipFill>
                <a:blip r:embed="rId3"/>
                <a:stretch>
                  <a:fillRect l="-232" t="-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6E177E3-5DC6-20FA-A1E7-09B73D6B8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6997"/>
              </p:ext>
            </p:extLst>
          </p:nvPr>
        </p:nvGraphicFramePr>
        <p:xfrm>
          <a:off x="6796504" y="4406054"/>
          <a:ext cx="3820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3461749266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3121450889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163653241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599063261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s</a:t>
                      </a:r>
                    </a:p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狀態一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狀態二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狀態三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934821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動作一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415154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動作二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573529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動作三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Q9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8395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CCF0D15-C64B-4B43-717C-A3D06FBBD599}"/>
                  </a:ext>
                </a:extLst>
              </p:cNvPr>
              <p:cNvSpPr txBox="1"/>
              <p:nvPr/>
            </p:nvSpPr>
            <p:spPr>
              <a:xfrm>
                <a:off x="1035651" y="5448868"/>
                <a:ext cx="556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𝑟𝑒𝑤𝑎𝑟𝑑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∗</m:t>
                    </m:r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′,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CCF0D15-C64B-4B43-717C-A3D06FBBD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51" y="5448868"/>
                <a:ext cx="5563403" cy="369332"/>
              </a:xfrm>
              <a:prstGeom prst="rect">
                <a:avLst/>
              </a:prstGeom>
              <a:blipFill>
                <a:blip r:embed="rId4"/>
                <a:stretch>
                  <a:fillRect l="-219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CBA78854-6B3F-1CE9-16A0-5D788B3A2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341" y="2888124"/>
            <a:ext cx="4820323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60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8DFA-8384-EDC8-EA52-78788B1D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A51EDF0B-D9DB-D49A-D35D-2A59C0A66F95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6E0E24-F152-1C96-0B09-1D86A908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DQN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模型說明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D46E0E43-B194-8F24-1BDD-4A7A137495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3907"/>
                <a:ext cx="10515600" cy="4993099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Deep Q Network(DQN)</a:t>
                </a:r>
              </a:p>
              <a:p>
                <a:pPr lvl="1"/>
                <a:r>
                  <a:rPr lang="zh-TW" altLang="en-US" dirty="0"/>
                  <a:t>透過深度學習，解決</a:t>
                </a:r>
                <a:r>
                  <a:rPr lang="en-US" altLang="zh-TW" dirty="0"/>
                  <a:t>Q Learning</a:t>
                </a:r>
                <a:r>
                  <a:rPr lang="zh-TW" altLang="en-US" dirty="0"/>
                  <a:t>在面對大型或是高維空間的 </a:t>
                </a:r>
                <a:r>
                  <a:rPr lang="en-US" altLang="zh-TW" dirty="0"/>
                  <a:t>Q table</a:t>
                </a:r>
                <a:r>
                  <a:rPr lang="zh-TW" altLang="en-US" dirty="0"/>
                  <a:t> 過大的問題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引入了兩個關鍵技巧用於穩定訓練</a:t>
                </a:r>
                <a:endParaRPr lang="en-US" altLang="zh-TW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dirty="0"/>
                  <a:t>Experience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Replay:</a:t>
                </a:r>
                <a:r>
                  <a:rPr lang="zh-TW" altLang="en-US" dirty="0"/>
                  <a:t> 將過去經驗儲存並進行隨機抽樣，降低資料相關性</a:t>
                </a:r>
                <a:endParaRPr lang="en-US" altLang="zh-TW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en-US" altLang="zh-TW" dirty="0"/>
                  <a:t>Target Network:</a:t>
                </a:r>
                <a:r>
                  <a:rPr lang="zh-TW" altLang="en-US" dirty="0"/>
                  <a:t> 提供穩定的 </a:t>
                </a:r>
                <a:r>
                  <a:rPr lang="en-US" altLang="zh-TW" dirty="0"/>
                  <a:t>TD-target</a:t>
                </a:r>
                <a:r>
                  <a:rPr lang="zh-TW" altLang="en-US" dirty="0"/>
                  <a:t>，避免 </a:t>
                </a:r>
                <a:r>
                  <a:rPr lang="en-US" altLang="zh-TW" dirty="0"/>
                  <a:t>Q-value</a:t>
                </a:r>
                <a:r>
                  <a:rPr lang="zh-TW" altLang="en-US" dirty="0"/>
                  <a:t> 發散</a:t>
                </a:r>
                <a:endParaRPr lang="en-US" altLang="zh-TW" dirty="0"/>
              </a:p>
              <a:p>
                <a:r>
                  <a:rPr lang="zh-TW" altLang="en-US" dirty="0"/>
                  <a:t>損失函數</a:t>
                </a:r>
                <a:endParaRPr lang="en-US" altLang="zh-TW" dirty="0"/>
              </a:p>
              <a:p>
                <a:pPr lvl="1"/>
                <a:r>
                  <a:rPr lang="el-GR" altLang="zh-TW" dirty="0"/>
                  <a:t>θ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神經網路的參數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zh-TW" dirty="0"/>
                  <a:t>: </a:t>
                </a:r>
                <a:r>
                  <a:rPr lang="zh-TW" altLang="en-US" dirty="0"/>
                  <a:t>目標網路的參數</a:t>
                </a:r>
                <a:endParaRPr lang="en-US" altLang="zh-TW" dirty="0"/>
              </a:p>
              <a:p>
                <a:pPr lvl="1"/>
                <a:r>
                  <a:rPr lang="en-US" altLang="zh-TW" i="1" dirty="0"/>
                  <a:t>U(D)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從經驗記憶庫中抽取的樣本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平均隨機抽樣</a:t>
                </a:r>
                <a:r>
                  <a:rPr lang="en-US" altLang="zh-TW" dirty="0"/>
                  <a:t>)</a:t>
                </a:r>
              </a:p>
              <a:p>
                <a:pPr lvl="1"/>
                <a:r>
                  <a:rPr lang="en-US" altLang="zh-TW" i="1" dirty="0"/>
                  <a:t>r</a:t>
                </a:r>
                <a:r>
                  <a:rPr lang="zh-TW" altLang="en-US" i="1" dirty="0"/>
                  <a:t> 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獎勵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E:</a:t>
                </a:r>
                <a:r>
                  <a:rPr lang="zh-TW" altLang="en-US" dirty="0"/>
                  <a:t> 對多筆</a:t>
                </a:r>
                <a:r>
                  <a:rPr lang="en-US" altLang="zh-TW" dirty="0"/>
                  <a:t>sample</a:t>
                </a:r>
                <a:r>
                  <a:rPr lang="zh-TW" altLang="en-US" dirty="0"/>
                  <a:t>取平均</a:t>
                </a:r>
                <a:endParaRPr lang="en-US" altLang="zh-TW" dirty="0"/>
              </a:p>
              <a:p>
                <a:pPr marL="457200" lvl="1" indent="0">
                  <a:buNone/>
                </a:pPr>
                <a:r>
                  <a:rPr lang="en-US" altLang="zh-TW" i="1" dirty="0"/>
                  <a:t>=&gt;</a:t>
                </a:r>
                <a:r>
                  <a:rPr lang="zh-TW" altLang="en-US" i="1" dirty="0"/>
                  <a:t> </a:t>
                </a:r>
                <a:r>
                  <a:rPr lang="zh-TW" altLang="en-US" dirty="0"/>
                  <a:t>本質上是最小化 </a:t>
                </a:r>
                <a:r>
                  <a:rPr lang="en-US" altLang="zh-TW" dirty="0"/>
                  <a:t>TD error</a:t>
                </a:r>
                <a:endParaRPr lang="en-US" altLang="zh-TW" i="1" dirty="0"/>
              </a:p>
              <a:p>
                <a:r>
                  <a:rPr lang="en-US" altLang="zh-TW" dirty="0"/>
                  <a:t>Target network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zh-TW" altLang="en-US" dirty="0"/>
                  <a:t>有一個依照設定的週期更新的</a:t>
                </a:r>
                <a:r>
                  <a:rPr lang="en-US" altLang="zh-TW" dirty="0"/>
                  <a:t>target_net(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altLang="zh-TW" dirty="0"/>
                  <a:t>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zh-TW" altLang="en-US" dirty="0"/>
                  <a:t>有另一個每步都在學習的</a:t>
                </a:r>
                <a:r>
                  <a:rPr lang="en-US" altLang="zh-TW" dirty="0"/>
                  <a:t>policy_net(</a:t>
                </a:r>
                <a:r>
                  <a:rPr lang="el-GR" altLang="zh-TW" dirty="0"/>
                  <a:t>θ</a:t>
                </a:r>
                <a:r>
                  <a:rPr lang="en-US" altLang="zh-TW" dirty="0"/>
                  <a:t>)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zh-TW" dirty="0"/>
                  <a:t>policy_net</a:t>
                </a:r>
                <a:r>
                  <a:rPr lang="zh-TW" altLang="en-US" dirty="0"/>
                  <a:t>會使用 </a:t>
                </a:r>
                <a:r>
                  <a:rPr lang="en-US" altLang="zh-TW" dirty="0"/>
                  <a:t>loss function</a:t>
                </a:r>
                <a:r>
                  <a:rPr lang="zh-TW" altLang="en-US" dirty="0"/>
                  <a:t> 更新，快速逼近</a:t>
                </a:r>
                <a:br>
                  <a:rPr lang="en-US" altLang="zh-TW" dirty="0"/>
                </a:br>
                <a:r>
                  <a:rPr lang="en-US" altLang="zh-TW" dirty="0"/>
                  <a:t>Q-value</a:t>
                </a:r>
                <a:r>
                  <a:rPr lang="zh-TW" altLang="en-US" dirty="0"/>
                  <a:t>，</a:t>
                </a:r>
                <a:r>
                  <a:rPr lang="en-US" altLang="zh-TW" dirty="0"/>
                  <a:t>target_net</a:t>
                </a:r>
                <a:r>
                  <a:rPr lang="zh-TW" altLang="en-US" dirty="0"/>
                  <a:t> 會在設定週期到了後，</a:t>
                </a:r>
                <a:br>
                  <a:rPr lang="en-US" altLang="zh-TW" dirty="0"/>
                </a:br>
                <a:r>
                  <a:rPr lang="zh-TW" altLang="en-US" dirty="0"/>
                  <a:t>更新成最新的 </a:t>
                </a:r>
                <a:r>
                  <a:rPr lang="en-US" altLang="zh-TW" dirty="0"/>
                  <a:t>policy_net</a:t>
                </a:r>
              </a:p>
              <a:p>
                <a:pPr lvl="1"/>
                <a:endParaRPr lang="en-US" altLang="zh-TW" dirty="0"/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D46E0E43-B194-8F24-1BDD-4A7A13749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3907"/>
                <a:ext cx="10515600" cy="4993099"/>
              </a:xfrm>
              <a:blipFill>
                <a:blip r:embed="rId3"/>
                <a:stretch>
                  <a:fillRect l="-232" t="-3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FB38B4D6-68CC-095E-80FB-9DC1B24AD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162" y="2608447"/>
            <a:ext cx="5139893" cy="801534"/>
          </a:xfrm>
          <a:prstGeom prst="rect">
            <a:avLst/>
          </a:prstGeom>
        </p:spPr>
      </p:pic>
      <p:pic>
        <p:nvPicPr>
          <p:cNvPr id="7" name="Picture 6" descr="image">
            <a:extLst>
              <a:ext uri="{FF2B5EF4-FFF2-40B4-BE49-F238E27FC236}">
                <a16:creationId xmlns:a16="http://schemas.microsoft.com/office/drawing/2014/main" id="{9CF56BA1-AFB4-8564-89D6-CCED34883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8" y="3411532"/>
            <a:ext cx="5127057" cy="28537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EA990CBC-5DD0-1A31-3990-CC67BA0062D4}"/>
              </a:ext>
            </a:extLst>
          </p:cNvPr>
          <p:cNvSpPr/>
          <p:nvPr/>
        </p:nvSpPr>
        <p:spPr>
          <a:xfrm>
            <a:off x="8115299" y="2822838"/>
            <a:ext cx="2695576" cy="327259"/>
          </a:xfrm>
          <a:prstGeom prst="round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81B0007-06B3-25DB-23FE-E97557D5B862}"/>
              </a:ext>
            </a:extLst>
          </p:cNvPr>
          <p:cNvSpPr txBox="1"/>
          <p:nvPr/>
        </p:nvSpPr>
        <p:spPr>
          <a:xfrm>
            <a:off x="8910637" y="3095373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zh-TW" alt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lang="zh-TW" altLang="en-US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34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21A97-5A3F-931B-420D-49F0897A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內容版面配置區 7">
                <a:extLst>
                  <a:ext uri="{FF2B5EF4-FFF2-40B4-BE49-F238E27FC236}">
                    <a16:creationId xmlns:a16="http://schemas.microsoft.com/office/drawing/2014/main" id="{F2F23352-A15A-8717-BE33-A0C94B4B56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replay buffer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(Experience Replay Memory)</a:t>
                </a:r>
              </a:p>
              <a:p>
                <a:pPr lvl="1"/>
                <a:r>
                  <a:rPr lang="zh-TW" altLang="en-US" dirty="0"/>
                  <a:t>是一個儲存「互動產生的經驗」地方，每筆經驗包含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(s,a,r,s′,done)</a:t>
                </a:r>
              </a:p>
              <a:p>
                <a:pPr lvl="1"/>
                <a:r>
                  <a:rPr lang="zh-TW" altLang="en-US" dirty="0"/>
                  <a:t>主要有四大用途</a:t>
                </a:r>
                <a:endParaRPr lang="en-US" altLang="zh-TW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zh-TW" altLang="en-US" dirty="0"/>
                  <a:t>打亂資料，去相關性；讓訓練更像 </a:t>
                </a:r>
                <a:r>
                  <a:rPr lang="en-US" altLang="zh-TW" dirty="0"/>
                  <a:t>supervised learning</a:t>
                </a:r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zh-TW" altLang="en-US" dirty="0"/>
                  <a:t>重複利用成功經驗</a:t>
                </a:r>
                <a:endParaRPr lang="en-US" altLang="zh-TW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zh-TW" altLang="en-US" dirty="0"/>
                  <a:t>避免錯誤經驗重複訓練</a:t>
                </a:r>
                <a:endParaRPr lang="en-US" altLang="zh-TW" dirty="0"/>
              </a:p>
              <a:p>
                <a:pPr marL="1257300" lvl="2" indent="-342900">
                  <a:buFont typeface="+mj-lt"/>
                  <a:buAutoNum type="arabicPeriod"/>
                </a:pPr>
                <a:r>
                  <a:rPr lang="zh-TW" altLang="en-US" dirty="0"/>
                  <a:t>讓資料變成</a:t>
                </a:r>
                <a:r>
                  <a:rPr lang="en-US" altLang="zh-TW" dirty="0"/>
                  <a:t>IID</a:t>
                </a:r>
                <a:r>
                  <a:rPr lang="zh-TW" altLang="en-US" dirty="0"/>
                  <a:t>，更接近神經網路，提高收斂性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總結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在每次訓練時，都會有過去的經驗</a:t>
                </a:r>
                <a:r>
                  <a:rPr lang="en-US" altLang="zh-TW" dirty="0"/>
                  <a:t>+</a:t>
                </a:r>
                <a:r>
                  <a:rPr lang="zh-TW" altLang="en-US" dirty="0"/>
                  <a:t>現在的資料</a:t>
                </a:r>
                <a:endParaRPr lang="en-US" altLang="zh-TW" dirty="0"/>
              </a:p>
              <a:p>
                <a:r>
                  <a:rPr lang="en-US" altLang="zh-TW" dirty="0"/>
                  <a:t>Epsilon-greedy</a:t>
                </a:r>
                <a:r>
                  <a:rPr lang="zh-TW" altLang="en-US" dirty="0"/>
                  <a:t>策略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用來在探索</a:t>
                </a:r>
                <a:r>
                  <a:rPr lang="en-US" altLang="zh-TW" dirty="0"/>
                  <a:t>(exploration)</a:t>
                </a:r>
                <a:r>
                  <a:rPr lang="zh-TW" altLang="en-US" dirty="0"/>
                  <a:t>與利用</a:t>
                </a:r>
                <a:r>
                  <a:rPr lang="en-US" altLang="zh-TW" dirty="0"/>
                  <a:t>(exploitation)</a:t>
                </a:r>
                <a:r>
                  <a:rPr lang="zh-TW" altLang="en-US" dirty="0"/>
                  <a:t>之間取得平衡，讓</a:t>
                </a:r>
                <a:r>
                  <a:rPr lang="en-US" altLang="zh-TW" dirty="0"/>
                  <a:t>AI</a:t>
                </a:r>
                <a:r>
                  <a:rPr lang="zh-TW" altLang="en-US" dirty="0"/>
                  <a:t>在還沒學會前嘗試其他動作</a:t>
                </a:r>
                <a:endParaRPr lang="en-US" altLang="zh-TW" dirty="0"/>
              </a:p>
              <a:p>
                <a:pPr lvl="1"/>
                <a:r>
                  <a:rPr lang="zh-TW" altLang="en-US" dirty="0"/>
                  <a:t>公式描述</a:t>
                </a:r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隨機動作</m:t>
                            </m:r>
                            <m: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以機率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arg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d>
                                      <m:d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，</m:t>
                                    </m:r>
                                    <m: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  <m:t>以機率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</m:func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  <a:p>
                <a:pPr lvl="2"/>
                <a:r>
                  <a:rPr lang="zh-TW" altLang="en-US" dirty="0"/>
                  <a:t>以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TW" altLang="en-US" dirty="0"/>
                  <a:t>的機率</a:t>
                </a:r>
                <a:r>
                  <a:rPr lang="zh-TW" altLang="en-US" u="sng" dirty="0"/>
                  <a:t>探索</a:t>
                </a:r>
                <a:r>
                  <a:rPr lang="zh-TW" altLang="en-US" dirty="0"/>
                  <a:t>；以 </a:t>
                </a:r>
                <a:r>
                  <a:rPr lang="en-US" altLang="zh-TW" dirty="0"/>
                  <a:t>1-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TW" altLang="en-US" dirty="0"/>
                  <a:t> 的機率選擇目前</a:t>
                </a:r>
                <a:r>
                  <a:rPr lang="en-US" altLang="zh-TW" dirty="0"/>
                  <a:t>Q</a:t>
                </a:r>
                <a:r>
                  <a:rPr lang="zh-TW" altLang="en-US" dirty="0"/>
                  <a:t>值最高的動作</a:t>
                </a:r>
                <a:r>
                  <a:rPr lang="en-US" altLang="zh-TW" dirty="0"/>
                  <a:t>(</a:t>
                </a:r>
                <a:r>
                  <a:rPr lang="zh-TW" altLang="en-US" u="sng" dirty="0"/>
                  <a:t>利用</a:t>
                </a:r>
                <a:r>
                  <a:rPr lang="en-US" altLang="zh-TW" dirty="0"/>
                  <a:t>)</a:t>
                </a:r>
              </a:p>
              <a:p>
                <a:pPr lvl="1"/>
                <a:r>
                  <a:rPr lang="zh-TW" altLang="en-US" dirty="0"/>
                  <a:t>變化方式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初期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/>
                  <a:t>=1)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中期</m:t>
                    </m:r>
                  </m:oMath>
                </a14:m>
                <a:r>
                  <a:rPr lang="en-US" altLang="zh-TW" b="0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TW" altLang="en-US" b="0" dirty="0"/>
                  <a:t>下降</a:t>
                </a:r>
                <a:r>
                  <a:rPr lang="en-US" altLang="zh-TW" b="0" dirty="0"/>
                  <a:t>)</a:t>
                </a:r>
                <a:r>
                  <a:rPr lang="zh-TW" altLang="en-US" b="0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b="0" dirty="0"/>
                  <a:t> </a:t>
                </a:r>
                <a:r>
                  <a:rPr lang="zh-TW" altLang="en-US" b="0" dirty="0"/>
                  <a:t>後期 </a:t>
                </a:r>
                <a:r>
                  <a:rPr lang="en-US" altLang="zh-TW" b="0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TW" altLang="en-US" b="0" dirty="0"/>
                  <a:t> </a:t>
                </a:r>
                <a:r>
                  <a:rPr lang="zh-TW" altLang="en-US" dirty="0"/>
                  <a:t>≈ </a:t>
                </a:r>
                <a:r>
                  <a:rPr lang="en-US" altLang="zh-TW" dirty="0"/>
                  <a:t>0.05</a:t>
                </a:r>
                <a:r>
                  <a:rPr lang="zh-TW" altLang="en-US" dirty="0"/>
                  <a:t>；</a:t>
                </a:r>
                <a:r>
                  <a:rPr lang="en-US" altLang="zh-TW" dirty="0"/>
                  <a:t>95%</a:t>
                </a:r>
                <a:r>
                  <a:rPr lang="zh-TW" altLang="en-US" dirty="0"/>
                  <a:t>利用，</a:t>
                </a:r>
                <a:r>
                  <a:rPr lang="en-US" altLang="zh-TW" dirty="0"/>
                  <a:t>5%</a:t>
                </a:r>
                <a:r>
                  <a:rPr lang="zh-TW" altLang="en-US" dirty="0"/>
                  <a:t>探索</a:t>
                </a:r>
                <a:r>
                  <a:rPr lang="en-US" altLang="zh-TW" dirty="0"/>
                  <a:t>)</a:t>
                </a:r>
                <a:endParaRPr lang="en-US" altLang="zh-TW" b="0" dirty="0"/>
              </a:p>
              <a:p>
                <a:pPr lvl="1"/>
                <a:endParaRPr lang="en-US" altLang="zh-TW" dirty="0"/>
              </a:p>
            </p:txBody>
          </p:sp>
        </mc:Choice>
        <mc:Fallback>
          <p:sp>
            <p:nvSpPr>
              <p:cNvPr id="8" name="內容版面配置區 7">
                <a:extLst>
                  <a:ext uri="{FF2B5EF4-FFF2-40B4-BE49-F238E27FC236}">
                    <a16:creationId xmlns:a16="http://schemas.microsoft.com/office/drawing/2014/main" id="{F2F23352-A15A-8717-BE33-A0C94B4B56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 t="-4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標題 2">
            <a:extLst>
              <a:ext uri="{FF2B5EF4-FFF2-40B4-BE49-F238E27FC236}">
                <a16:creationId xmlns:a16="http://schemas.microsoft.com/office/drawing/2014/main" id="{8069C3B3-0DFE-DEEB-87C2-7B89CDA4439C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7431FD-3B46-A1C6-AE12-55419B94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DQN</a:t>
            </a:r>
            <a:r>
              <a:rPr lang="zh-TW" altLang="en-US" dirty="0">
                <a:latin typeface="標楷體" panose="03000509000000000000" pitchFamily="65" charset="-120"/>
              </a:rPr>
              <a:t>模型說明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AutoShape 2" descr="已產生圖像">
            <a:extLst>
              <a:ext uri="{FF2B5EF4-FFF2-40B4-BE49-F238E27FC236}">
                <a16:creationId xmlns:a16="http://schemas.microsoft.com/office/drawing/2014/main" id="{EE0A1D81-71FE-599D-3F33-2E94AC05BB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15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21A97-5A3F-931B-420D-49F0897A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8069C3B3-0DFE-DEEB-87C2-7B89CDA4439C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7431FD-3B46-A1C6-AE12-55419B94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DQN</a:t>
            </a:r>
            <a:r>
              <a:rPr lang="zh-TW" altLang="en-US" dirty="0">
                <a:latin typeface="標楷體" panose="03000509000000000000" pitchFamily="65" charset="-120"/>
              </a:rPr>
              <a:t>模型說明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F97FFB3-22B7-7F27-17C9-E30C612C8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899" y="1389529"/>
            <a:ext cx="3617729" cy="435772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3062DF0-BB04-BAD7-7E3C-1FBF6212F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392" y="1558295"/>
            <a:ext cx="3917854" cy="4020188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69E53A6A-EA97-EF9B-F0E6-0E1C5F71C63F}"/>
              </a:ext>
            </a:extLst>
          </p:cNvPr>
          <p:cNvSpPr/>
          <p:nvPr/>
        </p:nvSpPr>
        <p:spPr>
          <a:xfrm>
            <a:off x="1117899" y="1325563"/>
            <a:ext cx="3617729" cy="23373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28BBE9C-F5E5-81F6-B0AA-C15DBE271078}"/>
              </a:ext>
            </a:extLst>
          </p:cNvPr>
          <p:cNvSpPr/>
          <p:nvPr/>
        </p:nvSpPr>
        <p:spPr>
          <a:xfrm>
            <a:off x="6837392" y="1542606"/>
            <a:ext cx="3917854" cy="23373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6CEF07D-8F65-3203-DB06-2A44ADEEFF3A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4735628" y="3568389"/>
            <a:ext cx="2101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792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21A97-5A3F-931B-420D-49F0897A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8069C3B3-0DFE-DEEB-87C2-7B89CDA4439C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7431FD-3B46-A1C6-AE12-55419B94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DQN</a:t>
            </a:r>
            <a:r>
              <a:rPr lang="zh-TW" altLang="en-US" dirty="0">
                <a:latin typeface="標楷體" panose="03000509000000000000" pitchFamily="65" charset="-120"/>
              </a:rPr>
              <a:t>模型說明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圖片 8" descr="一張含有 文字, 字型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B30DE609-0901-E02E-C54D-D70314D1F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140" y="1389529"/>
            <a:ext cx="7055719" cy="470381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9266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77052</TotalTime>
  <Words>1192</Words>
  <Application>Microsoft Office PowerPoint</Application>
  <PresentationFormat>寬螢幕</PresentationFormat>
  <Paragraphs>135</Paragraphs>
  <Slides>12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標楷體</vt:lpstr>
      <vt:lpstr>Arial</vt:lpstr>
      <vt:lpstr>Calibri</vt:lpstr>
      <vt:lpstr>Cambria Math</vt:lpstr>
      <vt:lpstr>Times New Roman</vt:lpstr>
      <vt:lpstr>Office 佈景主題</vt:lpstr>
      <vt:lpstr>基於DQN訓練遊玩Pac-man以及乒乓球之模型說明</vt:lpstr>
      <vt:lpstr>專案管理</vt:lpstr>
      <vt:lpstr>系統分析</vt:lpstr>
      <vt:lpstr>環境及設定</vt:lpstr>
      <vt:lpstr>測試清單</vt:lpstr>
      <vt:lpstr>測試清單</vt:lpstr>
      <vt:lpstr>DQN模型說明</vt:lpstr>
      <vt:lpstr>DQN模型說明</vt:lpstr>
      <vt:lpstr>DQN模型說明</vt:lpstr>
      <vt:lpstr>DQN模型說明</vt:lpstr>
      <vt:lpstr>DQN模型說明</vt:lpstr>
      <vt:lpstr>DQN模型說明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專案名稱</dc:title>
  <cp:lastModifiedBy>F114111115</cp:lastModifiedBy>
  <cp:revision>455</cp:revision>
  <dcterms:created xsi:type="dcterms:W3CDTF">2019-03-11T13:47:46Z</dcterms:created>
  <dcterms:modified xsi:type="dcterms:W3CDTF">2025-11-25T10:53:39Z</dcterms:modified>
</cp:coreProperties>
</file>